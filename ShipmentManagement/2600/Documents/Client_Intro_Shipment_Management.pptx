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56" r:id="rId3"/>
    <p:sldId id="262" r:id="rId4"/>
    <p:sldId id="257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3"/>
    <p:restoredTop sz="94967"/>
  </p:normalViewPr>
  <p:slideViewPr>
    <p:cSldViewPr snapToGrid="0" snapToObjects="1">
      <p:cViewPr varScale="1">
        <p:scale>
          <a:sx n="132" d="100"/>
          <a:sy n="132" d="100"/>
        </p:scale>
        <p:origin x="2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39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opening slide deliberately separates Shipment, Warehouse and Carrier so the client can understand ownership before the live demo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swimlane flow to preview the live demo. Emphasize that each milestone belongs to a clear application and business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78E4-EACA-DADD-AEDF-B6175AD5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EB397-6F82-1E1B-51C7-D106954DC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C16E4-2E3B-6F19-2AB3-0901FB147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value in client language: faster decisions, better planning, lower risk, fewer manual documents, and better visibility.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3D4B2-3CAA-AC19-3E04-B69CEC48A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6126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the closing slide. Ask which pain point is most relevant and then move to next-step discovery or pilot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E43C4-EF78-0871-EDD6-50FD5B1DFBDE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1D292-C129-D3D3-A5AE-0C36E3B3F177}"/>
              </a:ext>
            </a:extLst>
          </p:cNvPr>
          <p:cNvSpPr txBox="1"/>
          <p:nvPr/>
        </p:nvSpPr>
        <p:spPr>
          <a:xfrm>
            <a:off x="502920" y="201168"/>
            <a:ext cx="10972800" cy="44627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S</a:t>
            </a:r>
            <a:r>
              <a:rPr dirty="0"/>
              <a:t>hipment management</a:t>
            </a:r>
            <a:r>
              <a:rPr lang="en-US" dirty="0"/>
              <a:t> Overview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C04269-6814-630A-DA24-4623644B2488}"/>
              </a:ext>
            </a:extLst>
          </p:cNvPr>
          <p:cNvSpPr/>
          <p:nvPr/>
        </p:nvSpPr>
        <p:spPr>
          <a:xfrm>
            <a:off x="2171700" y="1297004"/>
            <a:ext cx="1965960" cy="420624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Scenario Overview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330B01-7880-1652-DF23-DE67E2814CD9}"/>
              </a:ext>
            </a:extLst>
          </p:cNvPr>
          <p:cNvSpPr/>
          <p:nvPr/>
        </p:nvSpPr>
        <p:spPr>
          <a:xfrm>
            <a:off x="502920" y="1855269"/>
            <a:ext cx="5394960" cy="4206240"/>
          </a:xfrm>
          <a:prstGeom prst="roundRect">
            <a:avLst/>
          </a:prstGeom>
          <a:solidFill>
            <a:srgbClr val="F5F3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FA68B0C-C6C4-E00A-DA7E-090C44C9C8DE}"/>
              </a:ext>
            </a:extLst>
          </p:cNvPr>
          <p:cNvSpPr txBox="1"/>
          <p:nvPr/>
        </p:nvSpPr>
        <p:spPr>
          <a:xfrm>
            <a:off x="822960" y="2495349"/>
            <a:ext cx="4663440" cy="2926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dirty="0"/>
              <a:t>A single end-to-end flow across Shipment, Warehouse, and Carrier applications.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dirty="0"/>
              <a:t>Order creation, inventory validation, shortage handling, warehouse readiness, carrier handoff, and final delivery closure.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dirty="0"/>
              <a:t>Embedded AI support for inventory reasoning, warehouse planning, carrier risk assessment, and GenAI document generation.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rPr dirty="0"/>
              <a:t>Automated stakeholder updates through emails, tracking details, and business documents stored in FileNet.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C3590-9317-5F32-D8B2-FD5DB76DF85C}"/>
              </a:ext>
            </a:extLst>
          </p:cNvPr>
          <p:cNvSpPr txBox="1"/>
          <p:nvPr/>
        </p:nvSpPr>
        <p:spPr>
          <a:xfrm>
            <a:off x="822960" y="193708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 dirty="0">
                <a:solidFill>
                  <a:srgbClr val="1F2937"/>
                </a:solidFill>
                <a:latin typeface="Aptos"/>
              </a:rPr>
              <a:t>What the scenario covers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7D5164-BCCE-C2C4-4014-2C2058520A88}"/>
              </a:ext>
            </a:extLst>
          </p:cNvPr>
          <p:cNvSpPr/>
          <p:nvPr/>
        </p:nvSpPr>
        <p:spPr>
          <a:xfrm>
            <a:off x="8054342" y="1297004"/>
            <a:ext cx="1965960" cy="420624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Use Case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60EB1C-8BD0-3576-30D7-37F0F1DEA73B}"/>
              </a:ext>
            </a:extLst>
          </p:cNvPr>
          <p:cNvSpPr/>
          <p:nvPr/>
        </p:nvSpPr>
        <p:spPr>
          <a:xfrm>
            <a:off x="6294122" y="1855269"/>
            <a:ext cx="5394960" cy="4206240"/>
          </a:xfrm>
          <a:prstGeom prst="roundRect">
            <a:avLst/>
          </a:prstGeom>
          <a:solidFill>
            <a:srgbClr val="F5F3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1425C-3509-2AAE-BB69-7B1ABA8488DF}"/>
              </a:ext>
            </a:extLst>
          </p:cNvPr>
          <p:cNvSpPr txBox="1"/>
          <p:nvPr/>
        </p:nvSpPr>
        <p:spPr>
          <a:xfrm>
            <a:off x="521207" y="576072"/>
            <a:ext cx="10972800" cy="26930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dirty="0"/>
              <a:t>Client demo introduction: </a:t>
            </a:r>
            <a:r>
              <a:rPr lang="en-US" dirty="0"/>
              <a:t>scenario overview and use case 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1FD0F4-6587-3DAE-CE3A-594A53C58401}"/>
              </a:ext>
            </a:extLst>
          </p:cNvPr>
          <p:cNvSpPr/>
          <p:nvPr/>
        </p:nvSpPr>
        <p:spPr>
          <a:xfrm>
            <a:off x="6612556" y="2119964"/>
            <a:ext cx="4863164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</a:rPr>
              <a:t>An electronics company receives an order for 300 smart tablets and must move from request creation to final delivery with full visibility, AI support, and automated documents.​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2B8A18-B396-BA73-1E9A-2BE47F584640}"/>
              </a:ext>
            </a:extLst>
          </p:cNvPr>
          <p:cNvSpPr/>
          <p:nvPr/>
        </p:nvSpPr>
        <p:spPr>
          <a:xfrm>
            <a:off x="6612556" y="3309164"/>
            <a:ext cx="2435191" cy="994289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334E195-4B6F-147B-8BF3-9A6AFD38B062}"/>
              </a:ext>
            </a:extLst>
          </p:cNvPr>
          <p:cNvSpPr txBox="1"/>
          <p:nvPr/>
        </p:nvSpPr>
        <p:spPr>
          <a:xfrm>
            <a:off x="6612556" y="3291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3B82F6"/>
                </a:solidFill>
                <a:latin typeface="Aptos"/>
              </a:rPr>
              <a:t>1. Shipment Team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EFB7B8A2-B4DB-7245-1C4A-4F744C3DE5EF}"/>
              </a:ext>
            </a:extLst>
          </p:cNvPr>
          <p:cNvSpPr txBox="1"/>
          <p:nvPr/>
        </p:nvSpPr>
        <p:spPr>
          <a:xfrm>
            <a:off x="6747710" y="3571934"/>
            <a:ext cx="2926080" cy="7315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Creates the order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Checks inventory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Triggers procurement if stock is short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DEAA194-5548-A45E-593C-2FB36EC87AA6}"/>
              </a:ext>
            </a:extLst>
          </p:cNvPr>
          <p:cNvSpPr/>
          <p:nvPr/>
        </p:nvSpPr>
        <p:spPr>
          <a:xfrm>
            <a:off x="6612556" y="4473176"/>
            <a:ext cx="2435191" cy="994289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28B97E2-3B59-F276-C053-7241244C1250}"/>
              </a:ext>
            </a:extLst>
          </p:cNvPr>
          <p:cNvSpPr/>
          <p:nvPr/>
        </p:nvSpPr>
        <p:spPr>
          <a:xfrm>
            <a:off x="9064993" y="4473177"/>
            <a:ext cx="2435191" cy="994289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2DEF07E-BBDB-156E-8B0C-3D114BEFE39D}"/>
              </a:ext>
            </a:extLst>
          </p:cNvPr>
          <p:cNvSpPr/>
          <p:nvPr/>
        </p:nvSpPr>
        <p:spPr>
          <a:xfrm>
            <a:off x="9064993" y="3309164"/>
            <a:ext cx="2435191" cy="994289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9C2ED10-8242-0C2C-D1D6-CD4EB720DD71}"/>
              </a:ext>
            </a:extLst>
          </p:cNvPr>
          <p:cNvSpPr txBox="1"/>
          <p:nvPr/>
        </p:nvSpPr>
        <p:spPr>
          <a:xfrm>
            <a:off x="9064993" y="330146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7C3AED"/>
                </a:solidFill>
                <a:latin typeface="Aptos"/>
              </a:rPr>
              <a:t>2. Warehouse Team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8BAAB6BE-3AE8-51D5-F9B3-722B5E1CD38D}"/>
              </a:ext>
            </a:extLst>
          </p:cNvPr>
          <p:cNvSpPr txBox="1"/>
          <p:nvPr/>
        </p:nvSpPr>
        <p:spPr>
          <a:xfrm>
            <a:off x="9182901" y="3592629"/>
            <a:ext cx="2926080" cy="7315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Loads the order by ID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Confirms readiness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Uses forecast and carrier insights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3DB62BAF-9042-1D5E-4E43-25254E6BE724}"/>
              </a:ext>
            </a:extLst>
          </p:cNvPr>
          <p:cNvSpPr txBox="1"/>
          <p:nvPr/>
        </p:nvSpPr>
        <p:spPr>
          <a:xfrm>
            <a:off x="6612556" y="446218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 dirty="0">
                <a:solidFill>
                  <a:srgbClr val="22C55E"/>
                </a:solidFill>
                <a:latin typeface="Aptos"/>
              </a:rPr>
              <a:t>3. Carrier Team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AD900F83-3B2A-107A-0A47-287018DA21F3}"/>
              </a:ext>
            </a:extLst>
          </p:cNvPr>
          <p:cNvSpPr txBox="1"/>
          <p:nvPr/>
        </p:nvSpPr>
        <p:spPr>
          <a:xfrm>
            <a:off x="6794231" y="4756881"/>
            <a:ext cx="2926080" cy="7315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Receives pickup request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Updates delivery status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dirty="0"/>
              <a:t>Completes final delivery confirmation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A47AC32F-C2A0-85CC-4233-FB0C867EC981}"/>
              </a:ext>
            </a:extLst>
          </p:cNvPr>
          <p:cNvSpPr txBox="1"/>
          <p:nvPr/>
        </p:nvSpPr>
        <p:spPr>
          <a:xfrm>
            <a:off x="9064993" y="445224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F97316"/>
                </a:solidFill>
                <a:latin typeface="Aptos"/>
              </a:rPr>
              <a:t>4. Customer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3F565CCB-9661-E2F9-5091-60F20F6E6E56}"/>
              </a:ext>
            </a:extLst>
          </p:cNvPr>
          <p:cNvSpPr txBox="1"/>
          <p:nvPr/>
        </p:nvSpPr>
        <p:spPr>
          <a:xfrm>
            <a:off x="9182901" y="4726283"/>
            <a:ext cx="2926080" cy="7315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Gets readiness updates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Receives delivery status notifications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Receives final POD document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796AD1-5576-79C7-81A5-217C63FC578C}"/>
              </a:ext>
            </a:extLst>
          </p:cNvPr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B6FB6A-1E7E-7550-8512-A5BF56B26B35}"/>
              </a:ext>
            </a:extLst>
          </p:cNvPr>
          <p:cNvSpPr txBox="1"/>
          <p:nvPr/>
        </p:nvSpPr>
        <p:spPr>
          <a:xfrm>
            <a:off x="10607040" y="6510528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dirty="0"/>
              <a:t>1/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31" name="speech welcome.mp3">
            <a:hlinkClick r:id="" action="ppaction://media"/>
            <a:extLst>
              <a:ext uri="{FF2B5EF4-FFF2-40B4-BE49-F238E27FC236}">
                <a16:creationId xmlns:a16="http://schemas.microsoft.com/office/drawing/2014/main" id="{28ECF2EF-2A52-89EC-6376-F5E1B97EDC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9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"/>
    </mc:Choice>
    <mc:Fallback>
      <p:transition spd="slow" advTm="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16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44627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S</a:t>
            </a:r>
            <a:r>
              <a:rPr dirty="0"/>
              <a:t>hipment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76072"/>
            <a:ext cx="109728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dirty="0"/>
              <a:t>Client demo introduction: business case, flow, value, and suggested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566160" cy="164592"/>
          </a:xfrm>
          <a:prstGeom prst="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18488"/>
            <a:ext cx="1965960" cy="420624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Shipment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311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1E65FF"/>
                </a:solidFill>
                <a:latin typeface="Aptos"/>
              </a:defRPr>
            </a:pPr>
            <a:r>
              <a:rPr sz="1600" dirty="0"/>
              <a:t>Business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3063239" cy="954107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0">
                <a:solidFill>
                  <a:srgbClr val="192337"/>
                </a:solidFill>
                <a:latin typeface="Aptos"/>
              </a:defRPr>
            </a:pPr>
            <a:r>
              <a:rPr dirty="0"/>
              <a:t>Creates the shipment request,</a:t>
            </a:r>
            <a:r>
              <a:rPr lang="en-US" dirty="0"/>
              <a:t> </a:t>
            </a:r>
            <a:r>
              <a:rPr dirty="0"/>
              <a:t>validates inventory, handles</a:t>
            </a:r>
            <a:r>
              <a:rPr lang="en-US" dirty="0"/>
              <a:t> </a:t>
            </a:r>
            <a:r>
              <a:rPr dirty="0"/>
              <a:t>shortage/procurement, and prepares shipment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6027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1E65FF"/>
                </a:solidFill>
                <a:latin typeface="Aptos"/>
              </a:defRPr>
            </a:pPr>
            <a:r>
              <a:rPr sz="1600" dirty="0"/>
              <a:t>AI / automation 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13631"/>
            <a:ext cx="3063239" cy="74980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0">
                <a:solidFill>
                  <a:srgbClr val="192337"/>
                </a:solidFill>
                <a:latin typeface="Aptos"/>
              </a:defRPr>
            </a:pPr>
            <a:r>
              <a:rPr dirty="0"/>
              <a:t>Agentic AI presents inventory availability and shortage context to guide proceed-versus-procure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846320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1E65FF"/>
                </a:solidFill>
                <a:latin typeface="Aptos"/>
              </a:defRPr>
            </a:pPr>
            <a:r>
              <a:rPr sz="1600" dirty="0"/>
              <a:t>Document /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157216"/>
            <a:ext cx="3063239" cy="56692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0">
                <a:solidFill>
                  <a:srgbClr val="192337"/>
                </a:solidFill>
                <a:latin typeface="Aptos"/>
              </a:defRPr>
            </a:pPr>
            <a:r>
              <a:rPr dirty="0"/>
              <a:t>Low inventory/procurement emails and GenAI-created PO Receipt.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298448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3566160" cy="164592"/>
          </a:xfrm>
          <a:prstGeom prst="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44568" y="1618488"/>
            <a:ext cx="1965960" cy="420624"/>
          </a:xfrm>
          <a:prstGeom prst="round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311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843DFF"/>
                </a:solidFill>
                <a:latin typeface="Aptos"/>
              </a:defRPr>
            </a:pPr>
            <a:r>
              <a:rPr sz="1600" dirty="0"/>
              <a:t>Business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42032"/>
            <a:ext cx="3063239" cy="80467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0">
                <a:solidFill>
                  <a:srgbClr val="192337"/>
                </a:solidFill>
                <a:latin typeface="Aptos"/>
              </a:defRPr>
            </a:pPr>
            <a:r>
              <a:rPr dirty="0"/>
              <a:t>Loads the shipment, confirms warehouse readiness, plans fulfillment, and prepares carrier handoff.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027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843DFF"/>
                </a:solidFill>
                <a:latin typeface="Aptos"/>
              </a:defRPr>
            </a:pPr>
            <a:r>
              <a:rPr sz="1600" dirty="0"/>
              <a:t>AI / automation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13631"/>
            <a:ext cx="3063239" cy="74980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0">
                <a:solidFill>
                  <a:srgbClr val="192337"/>
                </a:solidFill>
                <a:latin typeface="Aptos"/>
              </a:defRPr>
            </a:pPr>
            <a:r>
              <a:rPr dirty="0"/>
              <a:t>Sales Forecast AI supports planning; Predictive + Weather AI supports carrier confidence assessment.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843DFF"/>
                </a:solidFill>
                <a:latin typeface="Aptos"/>
              </a:defRPr>
            </a:pPr>
            <a:r>
              <a:rPr sz="1600" dirty="0"/>
              <a:t>Document /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57216"/>
            <a:ext cx="3063239" cy="56692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0">
                <a:solidFill>
                  <a:srgbClr val="192337"/>
                </a:solidFill>
                <a:latin typeface="Aptos"/>
              </a:defRPr>
            </a:pPr>
            <a:r>
              <a:rPr dirty="0"/>
              <a:t>Carrier pickup request and GenAI-created Shipping Label.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298448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29016" y="1298448"/>
            <a:ext cx="356616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57616" y="1618488"/>
            <a:ext cx="1965960" cy="42062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Carrier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2311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00A896"/>
                </a:solidFill>
                <a:latin typeface="Aptos"/>
              </a:defRPr>
            </a:pPr>
            <a:r>
              <a:rPr sz="1600" dirty="0"/>
              <a:t>Business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542032"/>
            <a:ext cx="3063239" cy="80467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0">
                <a:solidFill>
                  <a:srgbClr val="192337"/>
                </a:solidFill>
                <a:latin typeface="Aptos"/>
              </a:defRPr>
            </a:pPr>
            <a:r>
              <a:t>Loads finalized order details, updates delivery execution, and completes the shipment lifecycle.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602736"/>
            <a:ext cx="3063239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50" b="1">
                <a:solidFill>
                  <a:srgbClr val="00A896"/>
                </a:solidFill>
                <a:latin typeface="Aptos"/>
              </a:defRPr>
            </a:pPr>
            <a:r>
              <a:rPr sz="1600" dirty="0"/>
              <a:t>Document /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941290"/>
            <a:ext cx="3063239" cy="56692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0">
                <a:solidFill>
                  <a:srgbClr val="192337"/>
                </a:solidFill>
                <a:latin typeface="Aptos"/>
              </a:defRPr>
            </a:pPr>
            <a:r>
              <a:rPr dirty="0"/>
              <a:t>Delivery status email and GenAI-created Proof of Delivery.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89320"/>
            <a:ext cx="11201400" cy="52120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BE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6053328"/>
            <a:ext cx="10780775" cy="4770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250" b="1">
                <a:solidFill>
                  <a:srgbClr val="0B1F3D"/>
                </a:solidFill>
                <a:latin typeface="Aptos"/>
              </a:defRPr>
            </a:pPr>
            <a:r>
              <a:rPr dirty="0"/>
              <a:t>Business case: reduce manual coordination, improve decision speed, automate documents, and keep teams and customers informed across the shipment lifecycle.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10528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lang="en-US" dirty="0"/>
              <a:t>2</a:t>
            </a:r>
            <a:r>
              <a:rPr dirty="0"/>
              <a:t>/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38" name="speech 2nd .mp3">
            <a:hlinkClick r:id="" action="ppaction://media"/>
            <a:extLst>
              <a:ext uri="{FF2B5EF4-FFF2-40B4-BE49-F238E27FC236}">
                <a16:creationId xmlns:a16="http://schemas.microsoft.com/office/drawing/2014/main" id="{EE5ECBAA-2C0E-F88D-90F3-C5BFD8FA81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/>
    </mc:Choice>
    <mc:Fallback>
      <p:transition spd="slow" advClick="0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0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Products and AI used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76072"/>
            <a:ext cx="10972800" cy="26930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dirty="0"/>
              <a:t>Core automation products plus AI capabilities used across Shipment, Warehouse, </a:t>
            </a:r>
            <a:r>
              <a:rPr lang="en-US" dirty="0"/>
              <a:t>and </a:t>
            </a:r>
            <a:r>
              <a:rPr dirty="0"/>
              <a:t>Carrier</a:t>
            </a:r>
            <a:r>
              <a:rPr lang="en-US" dirty="0"/>
              <a:t> Applications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5440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493776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700" b="1">
                <a:solidFill>
                  <a:srgbClr val="0B1F3D"/>
                </a:solidFill>
                <a:latin typeface="Aptos"/>
              </a:defRPr>
            </a:pPr>
            <a:r>
              <a:t>Automation products / platform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01952"/>
            <a:ext cx="2331720" cy="109728"/>
          </a:xfrm>
          <a:prstGeom prst="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872" y="2037311"/>
            <a:ext cx="200253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1E65FF"/>
                </a:solidFill>
                <a:latin typeface="Aptos"/>
              </a:defRPr>
            </a:pPr>
            <a:r>
              <a:rPr dirty="0"/>
              <a:t>BAA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872" y="2302487"/>
            <a:ext cx="2011679" cy="64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Low-code user experience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Dynamic forms and validations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4867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901952"/>
            <a:ext cx="2331720" cy="109728"/>
          </a:xfrm>
          <a:prstGeom prst="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7" y="2066037"/>
            <a:ext cx="200253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843DFF"/>
                </a:solidFill>
                <a:latin typeface="Aptos"/>
              </a:defRPr>
            </a:pPr>
            <a:r>
              <a:rPr dirty="0"/>
              <a:t>BAW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5" y="2311631"/>
            <a:ext cx="1927904" cy="1364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Workflow orchestration</a:t>
            </a:r>
            <a:r>
              <a:rPr lang="en-US" dirty="0"/>
              <a:t> Shipment → Warehouse → Carrier routing</a:t>
            </a:r>
          </a:p>
          <a:p>
            <a:pPr>
              <a:spcAft>
                <a:spcPts val="300"/>
              </a:spcAft>
              <a:defRPr sz="1110">
                <a:solidFill>
                  <a:srgbClr val="192337"/>
                </a:solidFill>
                <a:latin typeface="Aptos"/>
              </a:defRPr>
            </a:pPr>
            <a:r>
              <a:rPr lang="en-US" dirty="0"/>
              <a:t> </a:t>
            </a:r>
            <a:br>
              <a:rPr lang="en-US" dirty="0"/>
            </a:br>
            <a:endParaRPr dirty="0"/>
          </a:p>
          <a:p>
            <a:pPr>
              <a:spcAft>
                <a:spcPts val="300"/>
              </a:spcAft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Shipment → Warehouse → Carrier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788" y="3281287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127248"/>
            <a:ext cx="2331720" cy="10972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273552"/>
            <a:ext cx="200253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FF9500"/>
                </a:solidFill>
                <a:latin typeface="Aptos"/>
              </a:defRPr>
            </a:pPr>
            <a:r>
              <a:t>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1" y="3491346"/>
            <a:ext cx="2011679" cy="81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Transport mode and delivery date logic</a:t>
            </a:r>
            <a:endParaRPr lang="en-US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lang="en-US" dirty="0"/>
              <a:t>Predictive ML Model for carrier risk score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3337560" y="3236976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7560" y="3127248"/>
            <a:ext cx="2331720" cy="10972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7" y="3259836"/>
            <a:ext cx="200253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34C759"/>
                </a:solidFill>
                <a:latin typeface="Aptos"/>
              </a:defRPr>
            </a:pPr>
            <a:r>
              <a:t>FileNet / FNCM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4" y="3474720"/>
            <a:ext cx="2011679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Stores PO Receipt, Shipping Label, P</a:t>
            </a:r>
            <a:r>
              <a:rPr lang="en-US" dirty="0"/>
              <a:t>roof of Delivery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2042947" y="4378175"/>
            <a:ext cx="2181581" cy="7881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57400" y="4387204"/>
            <a:ext cx="2181581" cy="9335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21992" y="4517136"/>
            <a:ext cx="200253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00A896"/>
                </a:solidFill>
                <a:latin typeface="Aptos"/>
              </a:defRPr>
            </a:pPr>
            <a:r>
              <a:rPr dirty="0"/>
              <a:t>BAI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5399" y="4732805"/>
            <a:ext cx="2011679" cy="263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Operational dashboards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207008"/>
            <a:ext cx="5440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1444752"/>
            <a:ext cx="493776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700" b="1">
                <a:solidFill>
                  <a:srgbClr val="0B1F3D"/>
                </a:solidFill>
                <a:latin typeface="Aptos"/>
              </a:defRPr>
            </a:pPr>
            <a:r>
              <a:t>AI capabilities used in the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1901952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10528" y="1901952"/>
            <a:ext cx="4800600" cy="109728"/>
          </a:xfrm>
          <a:prstGeom prst="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5687" y="2066037"/>
            <a:ext cx="447141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843DFF"/>
                </a:solidFill>
                <a:latin typeface="Aptos"/>
              </a:defRPr>
            </a:pPr>
            <a:r>
              <a:rPr dirty="0"/>
              <a:t>Agentic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5687" y="2284199"/>
            <a:ext cx="4480560" cy="472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Inventory reasoning in Shipment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Sales forecasting support in Warehouse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3054096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10528" y="3054096"/>
            <a:ext cx="4800600" cy="10972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5687" y="3236976"/>
            <a:ext cx="4471416" cy="30008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FF9500"/>
                </a:solidFill>
                <a:latin typeface="Aptos"/>
              </a:defRPr>
            </a:pPr>
            <a:r>
              <a:rPr dirty="0"/>
              <a:t>Predictive </a:t>
            </a:r>
            <a:r>
              <a:rPr lang="en-US" dirty="0"/>
              <a:t>Model</a:t>
            </a:r>
            <a:r>
              <a:rPr dirty="0"/>
              <a:t> + Weather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5687" y="3463906"/>
            <a:ext cx="4480560" cy="472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Carrier delivery confidence scoring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Weather context before carrier handoff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4206240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10528" y="4206240"/>
            <a:ext cx="4800600" cy="10972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15687" y="4314298"/>
            <a:ext cx="4471416" cy="24688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350" b="1">
                <a:solidFill>
                  <a:srgbClr val="34C759"/>
                </a:solidFill>
                <a:latin typeface="Aptos"/>
              </a:defRPr>
            </a:pPr>
            <a:r>
              <a:rPr dirty="0"/>
              <a:t>GenAI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5" y="4533754"/>
            <a:ext cx="4480560" cy="263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10">
                <a:solidFill>
                  <a:srgbClr val="192337"/>
                </a:solidFill>
                <a:latin typeface="Aptos"/>
              </a:defRPr>
            </a:pPr>
            <a:r>
              <a:rPr dirty="0"/>
              <a:t>Creates PO Receipt, Shipping Label, and P</a:t>
            </a:r>
            <a:r>
              <a:rPr lang="en-US" dirty="0"/>
              <a:t>roof Of Delivery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495147" y="6181344"/>
            <a:ext cx="1120140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5788" y="6235329"/>
            <a:ext cx="1069848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120" b="1">
                <a:solidFill>
                  <a:srgbClr val="0B1F3D"/>
                </a:solidFill>
                <a:latin typeface="Aptos"/>
              </a:defRPr>
            </a:pPr>
            <a:r>
              <a:t>Client takeaway: workflow, decisions, AI-generated documents, and FileNet storage work together as one business automation solution.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FED976-9567-36E9-EF5B-22717AA7A462}"/>
              </a:ext>
            </a:extLst>
          </p:cNvPr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pic>
        <p:nvPicPr>
          <p:cNvPr id="44" name="speech (4).mp3">
            <a:hlinkClick r:id="" action="ppaction://media"/>
            <a:extLst>
              <a:ext uri="{FF2B5EF4-FFF2-40B4-BE49-F238E27FC236}">
                <a16:creationId xmlns:a16="http://schemas.microsoft.com/office/drawing/2014/main" id="{FE9FDAA4-F794-442C-B199-F05BCE457E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13178" y="5212894"/>
            <a:ext cx="812800" cy="8128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4A86912-247B-B968-BCBD-14D62CFD29E5}"/>
              </a:ext>
            </a:extLst>
          </p:cNvPr>
          <p:cNvSpPr txBox="1"/>
          <p:nvPr/>
        </p:nvSpPr>
        <p:spPr>
          <a:xfrm>
            <a:off x="10613136" y="6582525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lang="en-US" dirty="0"/>
              <a:t>3</a:t>
            </a:r>
            <a:r>
              <a:rPr dirty="0"/>
              <a:t>/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40"/>
    </mc:Choice>
    <mc:Fallback xmlns="">
      <p:transition spd="slow" advClick="0" advTm="2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168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High-level flow: 6 milestones across 3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76072"/>
            <a:ext cx="109728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dirty="0"/>
              <a:t>A simple client-facing view of how the demo progresses from request to delivery closure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201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554480" cy="1234440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1170432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Shipment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07792"/>
            <a:ext cx="11201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907792"/>
            <a:ext cx="1554480" cy="1234440"/>
          </a:xfrm>
          <a:prstGeom prst="round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346704"/>
            <a:ext cx="1170432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72584"/>
            <a:ext cx="11201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4672584"/>
            <a:ext cx="1554480" cy="12344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111496"/>
            <a:ext cx="1170432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Carrier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298448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68879" y="1472184"/>
            <a:ext cx="502920" cy="502920"/>
          </a:xfrm>
          <a:prstGeom prst="ellipse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7" y="1426464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Create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7" y="1691639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t>Capture order, product, quantity and customer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298448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0" y="1472184"/>
            <a:ext cx="502920" cy="502920"/>
          </a:xfrm>
          <a:prstGeom prst="ellipse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426464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Validate 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691639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t>AI presents availability and triggers shortage/procurement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063240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79" y="3236976"/>
            <a:ext cx="502920" cy="502920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7" y="3125533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Confirm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7" y="3372647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rPr dirty="0"/>
              <a:t>Warehouse verifies staff, inventory, pickup window and handling needs.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3063240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69280" y="3236976"/>
            <a:ext cx="502920" cy="502920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90559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Assess carrier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068" y="3346704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rPr dirty="0"/>
              <a:t>Predictive + Weather AI evaluates carrier delivery confidence.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4828032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468879" y="5001768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7" y="4882670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Execute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7" y="5125814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rPr dirty="0"/>
              <a:t>Carrier updates delivery timestamp, status and notes.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4828032"/>
            <a:ext cx="2971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69280" y="5001768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9068" y="4882670"/>
            <a:ext cx="2057400" cy="33855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400" b="1">
                <a:solidFill>
                  <a:srgbClr val="192337"/>
                </a:solidFill>
                <a:latin typeface="Aptos"/>
              </a:defRPr>
            </a:pPr>
            <a:r>
              <a:rPr sz="1600" dirty="0"/>
              <a:t>Confirm &amp; close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5168745"/>
            <a:ext cx="2103120" cy="32918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050" b="0">
                <a:solidFill>
                  <a:srgbClr val="526074"/>
                </a:solidFill>
                <a:latin typeface="Aptos"/>
              </a:defRPr>
            </a:pPr>
            <a:r>
              <a:rPr dirty="0"/>
              <a:t>Customer receives final update and GenAI-generated POD.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1298448"/>
            <a:ext cx="2788920" cy="43982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1572768"/>
            <a:ext cx="22860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600" b="1">
                <a:solidFill>
                  <a:srgbClr val="FF9500"/>
                </a:solidFill>
                <a:latin typeface="Aptos"/>
              </a:defRPr>
            </a:pPr>
            <a:r>
              <a:rPr dirty="0"/>
              <a:t>What the client sees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1993392"/>
            <a:ext cx="2240280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2337"/>
                </a:solidFill>
                <a:latin typeface="Aptos"/>
              </a:defRPr>
            </a:pPr>
            <a:r>
              <a:rPr sz="1500" dirty="0"/>
              <a:t>Clear process ownership by application</a:t>
            </a:r>
          </a:p>
          <a:p>
            <a:pPr>
              <a:spcAft>
                <a:spcPts val="700"/>
              </a:spcAft>
              <a:defRPr sz="1350">
                <a:solidFill>
                  <a:srgbClr val="192337"/>
                </a:solidFill>
                <a:latin typeface="Aptos"/>
              </a:defRPr>
            </a:pPr>
            <a:r>
              <a:rPr sz="1500" dirty="0"/>
              <a:t>AI used at decision points, not as an afterthought</a:t>
            </a:r>
          </a:p>
          <a:p>
            <a:pPr>
              <a:spcAft>
                <a:spcPts val="700"/>
              </a:spcAft>
              <a:defRPr sz="1350">
                <a:solidFill>
                  <a:srgbClr val="192337"/>
                </a:solidFill>
                <a:latin typeface="Aptos"/>
              </a:defRPr>
            </a:pPr>
            <a:r>
              <a:rPr sz="1500" dirty="0"/>
              <a:t>Generated documents aligned to each business event</a:t>
            </a:r>
            <a:r>
              <a:rPr lang="en-US" sz="1500" dirty="0"/>
              <a:t> and stored in FileNet Navigator</a:t>
            </a:r>
            <a:endParaRPr sz="1500" dirty="0"/>
          </a:p>
          <a:p>
            <a:pPr>
              <a:spcAft>
                <a:spcPts val="700"/>
              </a:spcAft>
              <a:defRPr sz="1350">
                <a:solidFill>
                  <a:srgbClr val="192337"/>
                </a:solidFill>
                <a:latin typeface="Aptos"/>
              </a:defRPr>
            </a:pPr>
            <a:r>
              <a:rPr sz="1500" dirty="0"/>
              <a:t>Automated communications across stakeholders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10528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lang="en-US" dirty="0"/>
              <a:t>4</a:t>
            </a:r>
            <a:r>
              <a:rPr dirty="0"/>
              <a:t>/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43" name="speech (1).mp3">
            <a:hlinkClick r:id="" action="ppaction://media"/>
            <a:extLst>
              <a:ext uri="{FF2B5EF4-FFF2-40B4-BE49-F238E27FC236}">
                <a16:creationId xmlns:a16="http://schemas.microsoft.com/office/drawing/2014/main" id="{5FFE00F2-1B1F-9B27-E186-B77432B8F0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07040" y="60452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120"/>
    </mc:Choice>
    <mc:Fallback xmlns="">
      <p:transition spd="slow" advClick="0" advTm="1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36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F4A1-8D23-BDAB-FB44-97751F49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3A196-17F1-4A26-5C6D-850465FFAB1B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FFC39-47B5-DDB8-D48A-FFB1F3DAB4BD}"/>
              </a:ext>
            </a:extLst>
          </p:cNvPr>
          <p:cNvSpPr txBox="1"/>
          <p:nvPr/>
        </p:nvSpPr>
        <p:spPr>
          <a:xfrm>
            <a:off x="502920" y="20116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Business value delivered by AI and automation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B01B6-A6E7-8E58-5401-8B92659BFF5C}"/>
              </a:ext>
            </a:extLst>
          </p:cNvPr>
          <p:cNvSpPr txBox="1"/>
          <p:nvPr/>
        </p:nvSpPr>
        <p:spPr>
          <a:xfrm>
            <a:off x="521207" y="576072"/>
            <a:ext cx="10972800" cy="26930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lang="en-US" dirty="0"/>
              <a:t>V</a:t>
            </a:r>
            <a:r>
              <a:rPr dirty="0"/>
              <a:t>alue view for executive or business stakeholders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9BC9A0-1C21-9440-BBAF-96D5245F2B61}"/>
              </a:ext>
            </a:extLst>
          </p:cNvPr>
          <p:cNvSpPr/>
          <p:nvPr/>
        </p:nvSpPr>
        <p:spPr>
          <a:xfrm>
            <a:off x="594360" y="1325880"/>
            <a:ext cx="3611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F1667E-A01A-D32A-651D-7D903D57FAC5}"/>
              </a:ext>
            </a:extLst>
          </p:cNvPr>
          <p:cNvSpPr/>
          <p:nvPr/>
        </p:nvSpPr>
        <p:spPr>
          <a:xfrm>
            <a:off x="594360" y="1325880"/>
            <a:ext cx="3611880" cy="685800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7BA6D-40B9-2A4E-7EAA-B87950C0151A}"/>
              </a:ext>
            </a:extLst>
          </p:cNvPr>
          <p:cNvSpPr txBox="1"/>
          <p:nvPr/>
        </p:nvSpPr>
        <p:spPr>
          <a:xfrm>
            <a:off x="822960" y="1508760"/>
            <a:ext cx="315468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Faster fulfillment decisions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11C54-D1E1-315F-FD77-B1682038F6AD}"/>
              </a:ext>
            </a:extLst>
          </p:cNvPr>
          <p:cNvSpPr txBox="1"/>
          <p:nvPr/>
        </p:nvSpPr>
        <p:spPr>
          <a:xfrm>
            <a:off x="941832" y="2313432"/>
            <a:ext cx="29718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Agentic AI presents inventory availability and shortage context.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Procurement can be initiated when stock is insufficient.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Value: fewer stalled orders and faster order progression.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AE5C510-E344-1C6A-967E-6E8694555C6A}"/>
              </a:ext>
            </a:extLst>
          </p:cNvPr>
          <p:cNvSpPr/>
          <p:nvPr/>
        </p:nvSpPr>
        <p:spPr>
          <a:xfrm>
            <a:off x="914400" y="4846320"/>
            <a:ext cx="297180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D0855-04C3-4ABC-3327-09EC6CDCC92D}"/>
              </a:ext>
            </a:extLst>
          </p:cNvPr>
          <p:cNvSpPr txBox="1"/>
          <p:nvPr/>
        </p:nvSpPr>
        <p:spPr>
          <a:xfrm>
            <a:off x="1005840" y="4946904"/>
            <a:ext cx="2788920" cy="1828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050" b="1">
                <a:solidFill>
                  <a:srgbClr val="1E65FF"/>
                </a:solidFill>
                <a:latin typeface="Aptos"/>
              </a:defRPr>
            </a:pPr>
            <a:r>
              <a:t>AI + workflow + GenAI document automation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C782B-D6EA-2744-A385-18B1A14C396A}"/>
              </a:ext>
            </a:extLst>
          </p:cNvPr>
          <p:cNvSpPr/>
          <p:nvPr/>
        </p:nvSpPr>
        <p:spPr>
          <a:xfrm>
            <a:off x="4297680" y="1325880"/>
            <a:ext cx="3611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D28EEC4-E855-DE2B-D598-3274BC15DD2E}"/>
              </a:ext>
            </a:extLst>
          </p:cNvPr>
          <p:cNvSpPr/>
          <p:nvPr/>
        </p:nvSpPr>
        <p:spPr>
          <a:xfrm>
            <a:off x="4297680" y="1325880"/>
            <a:ext cx="3611880" cy="685800"/>
          </a:xfrm>
          <a:prstGeom prst="round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DBFE3-82DB-8614-B051-85BEA0D3C64B}"/>
              </a:ext>
            </a:extLst>
          </p:cNvPr>
          <p:cNvSpPr txBox="1"/>
          <p:nvPr/>
        </p:nvSpPr>
        <p:spPr>
          <a:xfrm>
            <a:off x="4526280" y="1508760"/>
            <a:ext cx="315468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Smarter warehouse planning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433039-11A2-0528-BF11-DA364248D6E8}"/>
              </a:ext>
            </a:extLst>
          </p:cNvPr>
          <p:cNvSpPr txBox="1"/>
          <p:nvPr/>
        </p:nvSpPr>
        <p:spPr>
          <a:xfrm>
            <a:off x="4645152" y="2313432"/>
            <a:ext cx="29718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Sales Forecast AI supports demand and replenishment planning.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Warehouse readiness fields standardize operational handoff.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Value: better preparation before carrier assignment.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11BFE3-B4C0-EDF7-64A7-BA751328B711}"/>
              </a:ext>
            </a:extLst>
          </p:cNvPr>
          <p:cNvSpPr/>
          <p:nvPr/>
        </p:nvSpPr>
        <p:spPr>
          <a:xfrm>
            <a:off x="4617720" y="4846320"/>
            <a:ext cx="297180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8C344A-044D-4CDB-5E18-FFF86C37FBA2}"/>
              </a:ext>
            </a:extLst>
          </p:cNvPr>
          <p:cNvSpPr txBox="1"/>
          <p:nvPr/>
        </p:nvSpPr>
        <p:spPr>
          <a:xfrm>
            <a:off x="4709160" y="4946904"/>
            <a:ext cx="2788920" cy="1828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050" b="1">
                <a:solidFill>
                  <a:srgbClr val="843DFF"/>
                </a:solidFill>
                <a:latin typeface="Aptos"/>
              </a:defRPr>
            </a:pPr>
            <a:r>
              <a:t>AI + workflow + GenAI document automation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C096D6-6EFD-B0FD-9531-9DDDA57F5372}"/>
              </a:ext>
            </a:extLst>
          </p:cNvPr>
          <p:cNvSpPr/>
          <p:nvPr/>
        </p:nvSpPr>
        <p:spPr>
          <a:xfrm>
            <a:off x="8001000" y="1325880"/>
            <a:ext cx="3611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C250DBC-6143-C9FD-3410-9A4455954280}"/>
              </a:ext>
            </a:extLst>
          </p:cNvPr>
          <p:cNvSpPr/>
          <p:nvPr/>
        </p:nvSpPr>
        <p:spPr>
          <a:xfrm>
            <a:off x="8001000" y="1325880"/>
            <a:ext cx="3611880" cy="6858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0FCD6-66EB-9517-6F84-5600FB05C4D8}"/>
              </a:ext>
            </a:extLst>
          </p:cNvPr>
          <p:cNvSpPr txBox="1"/>
          <p:nvPr/>
        </p:nvSpPr>
        <p:spPr>
          <a:xfrm>
            <a:off x="8229600" y="1508760"/>
            <a:ext cx="315468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Lower risk and manual effort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2EF7C1-E302-B14B-774D-DEEF8918C5EE}"/>
              </a:ext>
            </a:extLst>
          </p:cNvPr>
          <p:cNvSpPr txBox="1"/>
          <p:nvPr/>
        </p:nvSpPr>
        <p:spPr>
          <a:xfrm>
            <a:off x="8348472" y="2313432"/>
            <a:ext cx="29718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Predictive + Weather AI supports carrier confidence decisions.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GenAI creates PO Receipt, Shipping Label and POD.</a:t>
            </a:r>
          </a:p>
          <a:p>
            <a:pPr>
              <a:spcAft>
                <a:spcPts val="800"/>
              </a:spcAft>
              <a:defRPr sz="1450">
                <a:solidFill>
                  <a:srgbClr val="192337"/>
                </a:solidFill>
                <a:latin typeface="Aptos"/>
              </a:defRPr>
            </a:pPr>
            <a:r>
              <a:rPr sz="1600" dirty="0"/>
              <a:t>Value: fewer manual documents and stronger audit trail.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B3B6F9-6D9F-21A5-2C2D-B4CD49D76F63}"/>
              </a:ext>
            </a:extLst>
          </p:cNvPr>
          <p:cNvSpPr/>
          <p:nvPr/>
        </p:nvSpPr>
        <p:spPr>
          <a:xfrm>
            <a:off x="8321040" y="4846320"/>
            <a:ext cx="297180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6F078C-BD4C-0A15-7417-A9256FE2FA14}"/>
              </a:ext>
            </a:extLst>
          </p:cNvPr>
          <p:cNvSpPr txBox="1"/>
          <p:nvPr/>
        </p:nvSpPr>
        <p:spPr>
          <a:xfrm>
            <a:off x="8412480" y="4946904"/>
            <a:ext cx="2788920" cy="1828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050" b="1">
                <a:solidFill>
                  <a:srgbClr val="00A896"/>
                </a:solidFill>
                <a:latin typeface="Aptos"/>
              </a:defRPr>
            </a:pPr>
            <a:r>
              <a:t>AI + workflow + GenAI document automation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6AF9E4-7F83-FFB5-6693-2DFE020DFA6D}"/>
              </a:ext>
            </a:extLst>
          </p:cNvPr>
          <p:cNvSpPr/>
          <p:nvPr/>
        </p:nvSpPr>
        <p:spPr>
          <a:xfrm>
            <a:off x="594360" y="5806440"/>
            <a:ext cx="1101852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D795E7-EAAF-118F-138A-F717A557AA0F}"/>
              </a:ext>
            </a:extLst>
          </p:cNvPr>
          <p:cNvSpPr txBox="1"/>
          <p:nvPr/>
        </p:nvSpPr>
        <p:spPr>
          <a:xfrm>
            <a:off x="822960" y="5870448"/>
            <a:ext cx="1056132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250" b="1">
                <a:solidFill>
                  <a:srgbClr val="192337"/>
                </a:solidFill>
                <a:latin typeface="Aptos"/>
              </a:defRPr>
            </a:pPr>
            <a:r>
              <a:t>Business outcome: a more predictable, visible and document-aware shipment lifecycle from order request to final delivery confirmation.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16FFD0-97EF-1CF9-70AF-4258AA96DFB5}"/>
              </a:ext>
            </a:extLst>
          </p:cNvPr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F67AE-8403-6B67-2280-52C8EB913444}"/>
              </a:ext>
            </a:extLst>
          </p:cNvPr>
          <p:cNvSpPr txBox="1"/>
          <p:nvPr/>
        </p:nvSpPr>
        <p:spPr>
          <a:xfrm>
            <a:off x="10607040" y="6510528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lang="en-US" dirty="0"/>
              <a:t>5</a:t>
            </a:r>
            <a:r>
              <a:rPr dirty="0"/>
              <a:t>/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27" name="speech (2).mp3">
            <a:hlinkClick r:id="" action="ppaction://media"/>
            <a:extLst>
              <a:ext uri="{FF2B5EF4-FFF2-40B4-BE49-F238E27FC236}">
                <a16:creationId xmlns:a16="http://schemas.microsoft.com/office/drawing/2014/main" id="{4BB9BB2D-BE7D-99B4-94C3-C4ADF2FF98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71480" y="614172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5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70"/>
    </mc:Choice>
    <mc:Fallback xmlns="">
      <p:transition spd="slow" advClick="0" advTm="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08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Summary and client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76072"/>
            <a:ext cx="10972800" cy="26930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150" b="0">
                <a:solidFill>
                  <a:srgbClr val="D2DCEB"/>
                </a:solidFill>
                <a:latin typeface="Aptos"/>
              </a:defRPr>
            </a:pPr>
            <a:r>
              <a:rPr lang="en-US" dirty="0"/>
              <a:t>Next steps transition into discovery or pilot planning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166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448056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800" b="1">
                <a:solidFill>
                  <a:srgbClr val="192337"/>
                </a:solidFill>
                <a:latin typeface="Aptos"/>
              </a:defRPr>
            </a:pPr>
            <a:r>
              <a:t>Key business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965960" cy="420624"/>
          </a:xfrm>
          <a:prstGeom prst="roundRect">
            <a:avLst/>
          </a:prstGeom>
          <a:solidFill>
            <a:srgbClr val="1E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Shipment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83137"/>
            <a:ext cx="2377440" cy="669414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lang="en-US" dirty="0"/>
              <a:t>Order creation</a:t>
            </a:r>
            <a:r>
              <a:rPr dirty="0"/>
              <a:t>, inventory validation and shortage/procurement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07792"/>
            <a:ext cx="1965960" cy="420624"/>
          </a:xfrm>
          <a:prstGeom prst="roundRect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881151"/>
            <a:ext cx="2377440" cy="34747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dirty="0"/>
              <a:t>Readiness, forecasting, carrier confidence and handoff preparation.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58184"/>
            <a:ext cx="1965960" cy="42062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707337"/>
            <a:ext cx="2377440" cy="34747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dirty="0"/>
              <a:t>Delivery execution, customer updates and final POD closure.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3729"/>
            <a:ext cx="452628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AI supports better operational decisions.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GenAI reduces manual document preparation.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Automated emails improve stakeholder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280160"/>
            <a:ext cx="555955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36192"/>
            <a:ext cx="448056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800" b="1">
                <a:solidFill>
                  <a:srgbClr val="192337"/>
                </a:solidFill>
                <a:latin typeface="Aptos"/>
              </a:defRPr>
            </a:pPr>
            <a:r>
              <a:t>Template next steps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2029968"/>
            <a:ext cx="384048" cy="384048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066544"/>
            <a:ext cx="4160520" cy="307777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Confirm client scenarios, roles and exception paths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615184"/>
            <a:ext cx="384048" cy="384048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51760"/>
            <a:ext cx="4160520" cy="307777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Map current ERP</a:t>
            </a:r>
            <a:r>
              <a:rPr lang="en-US" sz="1400" dirty="0"/>
              <a:t> with</a:t>
            </a:r>
            <a:r>
              <a:rPr sz="1400" dirty="0"/>
              <a:t> systems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3200400"/>
            <a:ext cx="384048" cy="384048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236976"/>
            <a:ext cx="4160520" cy="5232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Select AI decision points and business rules for pilot scope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785616"/>
            <a:ext cx="384048" cy="384048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822192"/>
            <a:ext cx="4160520" cy="5232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Define success metrics: cycle time, manual touches, delivery success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4370832"/>
            <a:ext cx="384048" cy="384048"/>
          </a:xfrm>
          <a:prstGeom prst="ellipse">
            <a:avLst/>
          </a:prstGeom>
          <a:solidFill>
            <a:srgbClr val="843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407408"/>
            <a:ext cx="4160520" cy="307777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1250" b="0">
                <a:solidFill>
                  <a:srgbClr val="192337"/>
                </a:solidFill>
                <a:latin typeface="Aptos"/>
              </a:defRPr>
            </a:pPr>
            <a:r>
              <a:rPr sz="1400" dirty="0"/>
              <a:t>Agree pilot roadmap and implementation approach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870448"/>
            <a:ext cx="1101852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943600"/>
            <a:ext cx="10469880" cy="1828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>
              <a:defRPr sz="1220" b="1">
                <a:solidFill>
                  <a:srgbClr val="0B1F3D"/>
                </a:solidFill>
                <a:latin typeface="Aptos"/>
              </a:defRPr>
            </a:pPr>
            <a:r>
              <a:t>Positioning: XYZ Company can move from fragmented shipment operations to an AI-assisted, document-aware, automated fulfillment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40080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>
              <a:defRPr sz="900" b="0">
                <a:solidFill>
                  <a:srgbClr val="526074"/>
                </a:solidFill>
                <a:latin typeface="Aptos"/>
              </a:defRPr>
            </a:pPr>
            <a:r>
              <a:rPr dirty="0"/>
              <a:t>End-to-End Shipment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10528"/>
            <a:ext cx="1097280" cy="2308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>
              <a:defRPr sz="900" b="1">
                <a:solidFill>
                  <a:srgbClr val="526074"/>
                </a:solidFill>
                <a:latin typeface="Aptos"/>
              </a:defRPr>
            </a:pPr>
            <a:r>
              <a:rPr lang="en-US" dirty="0"/>
              <a:t>6</a:t>
            </a:r>
            <a:r>
              <a:rPr dirty="0"/>
              <a:t>/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30" name="speech (3).mp3">
            <a:hlinkClick r:id="" action="ppaction://media"/>
            <a:extLst>
              <a:ext uri="{FF2B5EF4-FFF2-40B4-BE49-F238E27FC236}">
                <a16:creationId xmlns:a16="http://schemas.microsoft.com/office/drawing/2014/main" id="{054105BA-D19B-D7AD-2F12-9736C129F7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07040" y="6199632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0"/>
    </mc:Choice>
    <mc:Fallback xmlns="">
      <p:transition spd="slow" advClick="0" advTm="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08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5773</TotalTime>
  <Words>1048</Words>
  <Application>Microsoft Macintosh PowerPoint</Application>
  <PresentationFormat>Widescreen</PresentationFormat>
  <Paragraphs>161</Paragraphs>
  <Slides>6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DAKSHIL Tailor</dc:creator>
  <cp:keywords/>
  <dc:description>generated using python-pptx</dc:description>
  <cp:lastModifiedBy>DAKSHIL Tailor</cp:lastModifiedBy>
  <cp:revision>10</cp:revision>
  <dcterms:created xsi:type="dcterms:W3CDTF">2026-05-15T18:16:14Z</dcterms:created>
  <dcterms:modified xsi:type="dcterms:W3CDTF">2026-05-21T14:08:38Z</dcterms:modified>
  <cp:category/>
</cp:coreProperties>
</file>