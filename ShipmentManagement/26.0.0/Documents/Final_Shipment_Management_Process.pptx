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92463-9463-E8EC-D5D2-E07F391DF29F}" v="109" dt="2026-05-14T16:12:43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7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KSHIL Tailor" userId="S::dakshil.tailor@ibm.com::e387f8ec-b30a-4ad4-99c6-9c57a6f27290" providerId="AD" clId="Web-{42092463-9463-E8EC-D5D2-E07F391DF29F}"/>
    <pc:docChg chg="modSld">
      <pc:chgData name="DAKSHIL Tailor" userId="S::dakshil.tailor@ibm.com::e387f8ec-b30a-4ad4-99c6-9c57a6f27290" providerId="AD" clId="Web-{42092463-9463-E8EC-D5D2-E07F391DF29F}" dt="2026-05-14T16:12:43.826" v="84" actId="20577"/>
      <pc:docMkLst>
        <pc:docMk/>
      </pc:docMkLst>
      <pc:sldChg chg="modSp">
        <pc:chgData name="DAKSHIL Tailor" userId="S::dakshil.tailor@ibm.com::e387f8ec-b30a-4ad4-99c6-9c57a6f27290" providerId="AD" clId="Web-{42092463-9463-E8EC-D5D2-E07F391DF29F}" dt="2026-05-14T16:05:40.543" v="3" actId="1076"/>
        <pc:sldMkLst>
          <pc:docMk/>
          <pc:sldMk cId="0" sldId="256"/>
        </pc:sldMkLst>
        <pc:spChg chg="mod">
          <ac:chgData name="DAKSHIL Tailor" userId="S::dakshil.tailor@ibm.com::e387f8ec-b30a-4ad4-99c6-9c57a6f27290" providerId="AD" clId="Web-{42092463-9463-E8EC-D5D2-E07F391DF29F}" dt="2026-05-14T16:05:40.543" v="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5:35.949" v="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5:32.355" v="1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5:28.417" v="0" actId="1076"/>
          <ac:spMkLst>
            <pc:docMk/>
            <pc:sldMk cId="0" sldId="256"/>
            <ac:spMk id="13" creationId="{00000000-0000-0000-0000-000000000000}"/>
          </ac:spMkLst>
        </pc:spChg>
      </pc:sldChg>
      <pc:sldChg chg="modSp">
        <pc:chgData name="DAKSHIL Tailor" userId="S::dakshil.tailor@ibm.com::e387f8ec-b30a-4ad4-99c6-9c57a6f27290" providerId="AD" clId="Web-{42092463-9463-E8EC-D5D2-E07F391DF29F}" dt="2026-05-14T16:12:43.826" v="84" actId="20577"/>
        <pc:sldMkLst>
          <pc:docMk/>
          <pc:sldMk cId="0" sldId="260"/>
        </pc:sldMkLst>
        <pc:spChg chg="mod">
          <ac:chgData name="DAKSHIL Tailor" userId="S::dakshil.tailor@ibm.com::e387f8ec-b30a-4ad4-99c6-9c57a6f27290" providerId="AD" clId="Web-{42092463-9463-E8EC-D5D2-E07F391DF29F}" dt="2026-05-14T16:12:43.826" v="84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">
        <pc:chgData name="DAKSHIL Tailor" userId="S::dakshil.tailor@ibm.com::e387f8ec-b30a-4ad4-99c6-9c57a6f27290" providerId="AD" clId="Web-{42092463-9463-E8EC-D5D2-E07F391DF29F}" dt="2026-05-14T16:12:00.794" v="82" actId="1076"/>
        <pc:sldMkLst>
          <pc:docMk/>
          <pc:sldMk cId="0" sldId="261"/>
        </pc:sldMkLst>
        <pc:spChg chg="mod">
          <ac:chgData name="DAKSHIL Tailor" userId="S::dakshil.tailor@ibm.com::e387f8ec-b30a-4ad4-99c6-9c57a6f27290" providerId="AD" clId="Web-{42092463-9463-E8EC-D5D2-E07F391DF29F}" dt="2026-05-14T16:12:00.794" v="8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56.201" v="81" actId="1076"/>
          <ac:spMkLst>
            <pc:docMk/>
            <pc:sldMk cId="0" sldId="261"/>
            <ac:spMk id="12" creationId="{00000000-0000-0000-0000-000000000000}"/>
          </ac:spMkLst>
        </pc:spChg>
      </pc:sldChg>
      <pc:sldChg chg="modSp">
        <pc:chgData name="DAKSHIL Tailor" userId="S::dakshil.tailor@ibm.com::e387f8ec-b30a-4ad4-99c6-9c57a6f27290" providerId="AD" clId="Web-{42092463-9463-E8EC-D5D2-E07F391DF29F}" dt="2026-05-14T16:11:24.247" v="78" actId="1076"/>
        <pc:sldMkLst>
          <pc:docMk/>
          <pc:sldMk cId="0" sldId="263"/>
        </pc:sldMkLst>
        <pc:spChg chg="mod">
          <ac:chgData name="DAKSHIL Tailor" userId="S::dakshil.tailor@ibm.com::e387f8ec-b30a-4ad4-99c6-9c57a6f27290" providerId="AD" clId="Web-{42092463-9463-E8EC-D5D2-E07F391DF29F}" dt="2026-05-14T16:10:55.497" v="72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24.247" v="7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18.138" v="77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13.966" v="76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05.544" v="74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1:02.357" v="73" actId="1076"/>
          <ac:spMkLst>
            <pc:docMk/>
            <pc:sldMk cId="0" sldId="263"/>
            <ac:spMk id="13" creationId="{00000000-0000-0000-0000-000000000000}"/>
          </ac:spMkLst>
        </pc:spChg>
      </pc:sldChg>
      <pc:sldChg chg="delSp modSp">
        <pc:chgData name="DAKSHIL Tailor" userId="S::dakshil.tailor@ibm.com::e387f8ec-b30a-4ad4-99c6-9c57a6f27290" providerId="AD" clId="Web-{42092463-9463-E8EC-D5D2-E07F391DF29F}" dt="2026-05-14T16:10:37.231" v="71" actId="20577"/>
        <pc:sldMkLst>
          <pc:docMk/>
          <pc:sldMk cId="0" sldId="264"/>
        </pc:sldMkLst>
        <pc:spChg chg="del mod">
          <ac:chgData name="DAKSHIL Tailor" userId="S::dakshil.tailor@ibm.com::e387f8ec-b30a-4ad4-99c6-9c57a6f27290" providerId="AD" clId="Web-{42092463-9463-E8EC-D5D2-E07F391DF29F}" dt="2026-05-14T16:09:53.091" v="5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9:56.481" v="58" actId="1076"/>
          <ac:spMkLst>
            <pc:docMk/>
            <pc:sldMk cId="0" sldId="264"/>
            <ac:spMk id="14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10:01.294" v="6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0:09.075" v="62" actId="1076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10:14.013" v="6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0:17.216" v="66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0:22.372" v="67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0:28.216" v="68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10:37.231" v="71" actId="20577"/>
          <ac:spMkLst>
            <pc:docMk/>
            <pc:sldMk cId="0" sldId="264"/>
            <ac:spMk id="21" creationId="{00000000-0000-0000-0000-000000000000}"/>
          </ac:spMkLst>
        </pc:spChg>
      </pc:sldChg>
      <pc:sldChg chg="delSp modSp">
        <pc:chgData name="DAKSHIL Tailor" userId="S::dakshil.tailor@ibm.com::e387f8ec-b30a-4ad4-99c6-9c57a6f27290" providerId="AD" clId="Web-{42092463-9463-E8EC-D5D2-E07F391DF29F}" dt="2026-05-14T16:09:39.778" v="54" actId="20577"/>
        <pc:sldMkLst>
          <pc:docMk/>
          <pc:sldMk cId="0" sldId="265"/>
        </pc:sldMkLst>
        <pc:spChg chg="del mod">
          <ac:chgData name="DAKSHIL Tailor" userId="S::dakshil.tailor@ibm.com::e387f8ec-b30a-4ad4-99c6-9c57a6f27290" providerId="AD" clId="Web-{42092463-9463-E8EC-D5D2-E07F391DF29F}" dt="2026-05-14T16:07:54.871" v="3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7:58.746" v="34" actId="1076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8:04.590" v="3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9:03.184" v="49" actId="20577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8:17.809" v="4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8:24.059" v="42" actId="1076"/>
          <ac:spMkLst>
            <pc:docMk/>
            <pc:sldMk cId="0" sldId="265"/>
            <ac:spMk id="20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8:28.934" v="4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8:35.965" v="46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9:11.372" v="50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9:19.794" v="51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9:39.778" v="54" actId="20577"/>
          <ac:spMkLst>
            <pc:docMk/>
            <pc:sldMk cId="0" sldId="265"/>
            <ac:spMk id="25" creationId="{00000000-0000-0000-0000-000000000000}"/>
          </ac:spMkLst>
        </pc:spChg>
      </pc:sldChg>
      <pc:sldChg chg="delSp modSp">
        <pc:chgData name="DAKSHIL Tailor" userId="S::dakshil.tailor@ibm.com::e387f8ec-b30a-4ad4-99c6-9c57a6f27290" providerId="AD" clId="Web-{42092463-9463-E8EC-D5D2-E07F391DF29F}" dt="2026-05-14T16:07:45.699" v="30" actId="20577"/>
        <pc:sldMkLst>
          <pc:docMk/>
          <pc:sldMk cId="0" sldId="266"/>
        </pc:sldMkLst>
        <pc:spChg chg="del mod">
          <ac:chgData name="DAKSHIL Tailor" userId="S::dakshil.tailor@ibm.com::e387f8ec-b30a-4ad4-99c6-9c57a6f27290" providerId="AD" clId="Web-{42092463-9463-E8EC-D5D2-E07F391DF29F}" dt="2026-05-14T16:05:55.777" v="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6:00.418" v="7" actId="1076"/>
          <ac:spMkLst>
            <pc:docMk/>
            <pc:sldMk cId="0" sldId="266"/>
            <ac:spMk id="16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6:10.871" v="1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6:15.668" v="11" actId="1076"/>
          <ac:spMkLst>
            <pc:docMk/>
            <pc:sldMk cId="0" sldId="266"/>
            <ac:spMk id="18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6:25.355" v="1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6:29.043" v="15" actId="1076"/>
          <ac:spMkLst>
            <pc:docMk/>
            <pc:sldMk cId="0" sldId="266"/>
            <ac:spMk id="20" creationId="{00000000-0000-0000-0000-000000000000}"/>
          </ac:spMkLst>
        </pc:spChg>
        <pc:spChg chg="del mod">
          <ac:chgData name="DAKSHIL Tailor" userId="S::dakshil.tailor@ibm.com::e387f8ec-b30a-4ad4-99c6-9c57a6f27290" providerId="AD" clId="Web-{42092463-9463-E8EC-D5D2-E07F391DF29F}" dt="2026-05-14T16:06:39.183" v="18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6:47.887" v="20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6:53.043" v="21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7:22.824" v="27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DAKSHIL Tailor" userId="S::dakshil.tailor@ibm.com::e387f8ec-b30a-4ad4-99c6-9c57a6f27290" providerId="AD" clId="Web-{42092463-9463-E8EC-D5D2-E07F391DF29F}" dt="2026-05-14T16:07:45.699" v="30" actId="20577"/>
          <ac:spMkLst>
            <pc:docMk/>
            <pc:sldMk cId="0" sldId="266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AE237-C3B5-4652-8908-4CF44D701F51}" type="datetimeFigureOut"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B39DF-5E70-49F1-AA6B-D68E298697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90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preserved from Shipment_Management_ppt_Application_Process_Flows.pptx (extracted text reference 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dirty="0">
                <a:solidFill>
                  <a:schemeClr val="tx2"/>
                </a:solidFill>
              </a:rPr>
              <a:t>1. Scenario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759" y="1396163"/>
            <a:ext cx="10728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  <a:defRPr sz="1600">
                <a:solidFill>
                  <a:srgbClr val="475569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End-to-End Shipment Management Solution is a connected, multi-application shipment lifecycle solution that brings shipment creation, warehouse processing, and carrier execution into one coordinated experience.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  <a:defRPr sz="1600">
                <a:solidFill>
                  <a:srgbClr val="475569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combines AI-assisted decision support, automated communications, and generated business documents to keep operations consistent, and stakeholders informed throughout the lifecycle.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  <a:defRPr sz="1600">
                <a:solidFill>
                  <a:srgbClr val="475569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Overall, it ensures every stakeholder has clear actions and timely information, while the workflow stays transparent through notifications and generated documents across the solution.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390005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28394" y="2539883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77240" y="3768539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9" name="Oval 18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dirty="0"/>
              <a:t>1/1</a:t>
            </a:r>
            <a:r>
              <a:rPr lang="en-US" dirty="0"/>
              <a:t>0</a:t>
            </a:r>
            <a:endParaRPr dirty="0"/>
          </a:p>
        </p:txBody>
      </p:sp>
      <p:pic>
        <p:nvPicPr>
          <p:cNvPr id="6" name="speech (5).mp3">
            <a:hlinkClick r:id="" action="ppaction://media"/>
            <a:extLst>
              <a:ext uri="{FF2B5EF4-FFF2-40B4-BE49-F238E27FC236}">
                <a16:creationId xmlns:a16="http://schemas.microsoft.com/office/drawing/2014/main" id="{D9FEDE01-1A36-4231-4944-24E89E94E7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08847" y="4493112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"/>
    </mc:Choice>
    <mc:Fallback>
      <p:transition spd="slow" advTm="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4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2. Scenario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Improve shipment operations by guiding users through every stage with automation, intelligence, visibility, and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472" y="2274819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Reduce manual coordination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Standardize shipment flow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Improve process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8584" y="2245272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Use AI to </a:t>
            </a:r>
            <a:r>
              <a:rPr lang="en-US" dirty="0"/>
              <a:t>check</a:t>
            </a:r>
            <a:r>
              <a:rPr dirty="0"/>
              <a:t> inventory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Support warehouse planning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Assess carrier delivery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291" y="2242239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Keep teams informed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Generate business documents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Show consistent company branding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8" name="Oval 17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dirty="0"/>
              <a:t>2/1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0D36933-E7D3-D1AC-6088-55F501A59CB7}"/>
              </a:ext>
            </a:extLst>
          </p:cNvPr>
          <p:cNvSpPr/>
          <p:nvPr/>
        </p:nvSpPr>
        <p:spPr>
          <a:xfrm>
            <a:off x="4600373" y="1547137"/>
            <a:ext cx="1552314" cy="5029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Decision Goal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D62362-BE12-CB91-4651-3A0CC4B75854}"/>
              </a:ext>
            </a:extLst>
          </p:cNvPr>
          <p:cNvSpPr/>
          <p:nvPr/>
        </p:nvSpPr>
        <p:spPr>
          <a:xfrm>
            <a:off x="777240" y="1539494"/>
            <a:ext cx="1909023" cy="5029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Operational Goal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A43854B-17D8-AF89-BFA9-B69D942C5A7D}"/>
              </a:ext>
            </a:extLst>
          </p:cNvPr>
          <p:cNvSpPr/>
          <p:nvPr/>
        </p:nvSpPr>
        <p:spPr>
          <a:xfrm>
            <a:off x="8283152" y="1492968"/>
            <a:ext cx="1759703" cy="5029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Experience Goal</a:t>
            </a:r>
          </a:p>
        </p:txBody>
      </p:sp>
      <p:pic>
        <p:nvPicPr>
          <p:cNvPr id="6" name="speech (6).mp3">
            <a:hlinkClick r:id="" action="ppaction://media"/>
            <a:extLst>
              <a:ext uri="{FF2B5EF4-FFF2-40B4-BE49-F238E27FC236}">
                <a16:creationId xmlns:a16="http://schemas.microsoft.com/office/drawing/2014/main" id="{0B4780A4-5F8B-0856-110D-796960C8B8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"/>
    </mc:Choice>
    <mc:Fallback>
      <p:transition spd="slow" advTm="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91694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dirty="0"/>
              <a:t>3. Use Case — Electronics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Electronics Company fulfills a customer order for smart tablets using Shipment, Warehouse, and Carrier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728655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53895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dirty="0"/>
              <a:t>Scenario: A business customer orders 300 smart tablets. Electronics Company must confirm inventory, prepare the shipment, assign a carrier, and keep the customer updated until delivery is completed.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1. Shipment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1"/>
            <a:ext cx="5090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Starts the order with product and quantity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Gets inventory </a:t>
            </a:r>
            <a:r>
              <a:rPr lang="en-US" dirty="0"/>
              <a:t>check </a:t>
            </a:r>
            <a:r>
              <a:rPr dirty="0"/>
              <a:t>result </a:t>
            </a:r>
            <a:r>
              <a:rPr lang="en-US" dirty="0"/>
              <a:t>by</a:t>
            </a:r>
            <a:r>
              <a:rPr dirty="0"/>
              <a:t> AI </a:t>
            </a:r>
            <a:r>
              <a:rPr lang="en-US" dirty="0"/>
              <a:t>Agent</a:t>
            </a:r>
            <a:endParaRPr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Procures shortage or creates shipment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Receives generated PO Receipt when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258568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2. Warehouse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587751"/>
            <a:ext cx="5090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Loads shipment by Order ID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Reviews shipment and delivery details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Confirms inventory, staff, pickup window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Uses forecast and carrier risk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8" name="Oval 17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dirty="0"/>
              <a:t>3/1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8346ED-DFCF-755D-C79B-B2C0711B4FBB}"/>
              </a:ext>
            </a:extLst>
          </p:cNvPr>
          <p:cNvSpPr txBox="1"/>
          <p:nvPr/>
        </p:nvSpPr>
        <p:spPr>
          <a:xfrm>
            <a:off x="777239" y="3936813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rPr dirty="0"/>
              <a:t>3. Delivery Driver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92973B-D1B8-E302-4B40-194ACAB1AE0F}"/>
              </a:ext>
            </a:extLst>
          </p:cNvPr>
          <p:cNvSpPr txBox="1"/>
          <p:nvPr/>
        </p:nvSpPr>
        <p:spPr>
          <a:xfrm>
            <a:off x="777238" y="4187951"/>
            <a:ext cx="5090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Receives pickup request and shipping label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Gets carrier and delivery information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Updates delivery timestamp and status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Completes final delivery update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860CE-8382-2448-CBC0-D2CE8478DE31}"/>
              </a:ext>
            </a:extLst>
          </p:cNvPr>
          <p:cNvSpPr txBox="1"/>
          <p:nvPr/>
        </p:nvSpPr>
        <p:spPr>
          <a:xfrm>
            <a:off x="6415887" y="3904487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dirty="0"/>
              <a:t>4. Customer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E245D4-C548-31BB-2E7F-32CC56656AD6}"/>
              </a:ext>
            </a:extLst>
          </p:cNvPr>
          <p:cNvSpPr txBox="1"/>
          <p:nvPr/>
        </p:nvSpPr>
        <p:spPr>
          <a:xfrm>
            <a:off x="6415885" y="4187951"/>
            <a:ext cx="5090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Gets order readiness communication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Receives delivery status updates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Receives delivered confirmation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Gets final POD document</a:t>
            </a:r>
          </a:p>
        </p:txBody>
      </p:sp>
      <p:pic>
        <p:nvPicPr>
          <p:cNvPr id="6" name="speech (7).mp3">
            <a:hlinkClick r:id="" action="ppaction://media"/>
            <a:extLst>
              <a:ext uri="{FF2B5EF4-FFF2-40B4-BE49-F238E27FC236}">
                <a16:creationId xmlns:a16="http://schemas.microsoft.com/office/drawing/2014/main" id="{9AF3D4F7-00F3-DB39-B9B7-5E4EC472D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"/>
    </mc:Choice>
    <mc:Fallback>
      <p:transition spd="slow" advTm="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dirty="0"/>
              <a:t>4.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rPr dirty="0"/>
              <a:t>Major components used across UI, workflow, decisions, data, AI, documents, </a:t>
            </a:r>
            <a:r>
              <a:rPr lang="en-US" dirty="0"/>
              <a:t>and </a:t>
            </a:r>
            <a:r>
              <a:rPr dirty="0"/>
              <a:t>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5911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lang="en-US" dirty="0">
                <a:solidFill>
                  <a:srgbClr val="7C3AED"/>
                </a:solidFill>
              </a:rPr>
              <a:t>BAA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1655064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Shipment, Warehouse, Carrier UI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User actions and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6526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lang="en-US" dirty="0">
                <a:solidFill>
                  <a:srgbClr val="7C3AED"/>
                </a:solidFill>
              </a:rPr>
              <a:t>BAW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2642616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Workflow orchestration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Service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00984"/>
            <a:ext cx="579005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dirty="0">
                <a:solidFill>
                  <a:srgbClr val="7C3AED"/>
                </a:solidFill>
              </a:rPr>
              <a:t>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Approval plan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Carrier Risk Predictive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1325880"/>
            <a:ext cx="10779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lang="en-US" dirty="0">
                <a:solidFill>
                  <a:srgbClr val="7C3AED"/>
                </a:solidFill>
              </a:rPr>
              <a:t>Database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415887" y="1655064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Stores shipment data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Fetch by Order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313432"/>
            <a:ext cx="18449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lang="en-US" dirty="0">
                <a:solidFill>
                  <a:srgbClr val="7C3AED"/>
                </a:solidFill>
              </a:rPr>
              <a:t>FileNet</a:t>
            </a:r>
            <a:r>
              <a:rPr dirty="0"/>
              <a:t> </a:t>
            </a:r>
            <a:r>
              <a:rPr lang="en-US" dirty="0">
                <a:solidFill>
                  <a:srgbClr val="7C3AED"/>
                </a:solidFill>
              </a:rPr>
              <a:t>Navigator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15887" y="2642616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Templates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Document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21" name="Oval 20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23" name="Oval 22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5" name="Oval 24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4</a:t>
            </a:r>
            <a:r>
              <a:rPr dirty="0"/>
              <a:t>/1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F8D68D-82AF-98CA-04B2-C587537669F2}"/>
              </a:ext>
            </a:extLst>
          </p:cNvPr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860D26-7AB1-0BEF-8A0D-46E52F4C0049}"/>
              </a:ext>
            </a:extLst>
          </p:cNvPr>
          <p:cNvSpPr txBox="1"/>
          <p:nvPr/>
        </p:nvSpPr>
        <p:spPr>
          <a:xfrm>
            <a:off x="6415887" y="3337560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dirty="0"/>
              <a:t>Agentic 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63F4F4-E971-7D53-F0A6-13C5A5613313}"/>
              </a:ext>
            </a:extLst>
          </p:cNvPr>
          <p:cNvSpPr txBox="1"/>
          <p:nvPr/>
        </p:nvSpPr>
        <p:spPr>
          <a:xfrm>
            <a:off x="6415886" y="3630168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Inventory reasoning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Sales forecasting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Weather AI insights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EAF3E8-E7F8-B266-04E1-C35B8A61206C}"/>
              </a:ext>
            </a:extLst>
          </p:cNvPr>
          <p:cNvSpPr txBox="1"/>
          <p:nvPr/>
        </p:nvSpPr>
        <p:spPr>
          <a:xfrm>
            <a:off x="686108" y="4325112"/>
            <a:ext cx="50900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dirty="0"/>
              <a:t>GenAI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3520E-09D6-7327-684B-1FBBBDDFEB88}"/>
              </a:ext>
            </a:extLst>
          </p:cNvPr>
          <p:cNvSpPr txBox="1"/>
          <p:nvPr/>
        </p:nvSpPr>
        <p:spPr>
          <a:xfrm>
            <a:off x="777239" y="4617720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PO Receipt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Shipping Label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Proof Of Delivery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42FEC8-4CB0-BE83-51C8-E85E979B5A43}"/>
              </a:ext>
            </a:extLst>
          </p:cNvPr>
          <p:cNvSpPr txBox="1"/>
          <p:nvPr/>
        </p:nvSpPr>
        <p:spPr>
          <a:xfrm>
            <a:off x="686108" y="5494435"/>
            <a:ext cx="108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lang="en-US" dirty="0">
                <a:solidFill>
                  <a:srgbClr val="7C3AED"/>
                </a:solidFill>
              </a:rPr>
              <a:t>Email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22B46D-11B2-0D06-90E3-4AE36E7ABF55}"/>
              </a:ext>
            </a:extLst>
          </p:cNvPr>
          <p:cNvSpPr txBox="1"/>
          <p:nvPr/>
        </p:nvSpPr>
        <p:spPr>
          <a:xfrm>
            <a:off x="776159" y="5789047"/>
            <a:ext cx="5090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Email Notifications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401968-A3DE-52B7-48B0-2081B2915C73}"/>
              </a:ext>
            </a:extLst>
          </p:cNvPr>
          <p:cNvSpPr txBox="1"/>
          <p:nvPr/>
        </p:nvSpPr>
        <p:spPr>
          <a:xfrm>
            <a:off x="6415885" y="4612171"/>
            <a:ext cx="18102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dirty="0"/>
              <a:t>Predictive </a:t>
            </a:r>
            <a:r>
              <a:rPr lang="en-US" dirty="0"/>
              <a:t>Model</a:t>
            </a:r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CA3EEF-6BBC-AB03-0F6C-9BD11C9D6F6F}"/>
              </a:ext>
            </a:extLst>
          </p:cNvPr>
          <p:cNvSpPr txBox="1"/>
          <p:nvPr/>
        </p:nvSpPr>
        <p:spPr>
          <a:xfrm>
            <a:off x="6415884" y="4912156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Carrier confidence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Delivery risk scoring</a:t>
            </a:r>
          </a:p>
        </p:txBody>
      </p:sp>
      <p:pic>
        <p:nvPicPr>
          <p:cNvPr id="7" name="speech (9).mp3">
            <a:hlinkClick r:id="" action="ppaction://media"/>
            <a:extLst>
              <a:ext uri="{FF2B5EF4-FFF2-40B4-BE49-F238E27FC236}">
                <a16:creationId xmlns:a16="http://schemas.microsoft.com/office/drawing/2014/main" id="{504621C0-B558-8A30-AD56-A828D4D4C6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0"/>
    </mc:Choice>
    <mc:Fallback>
      <p:transition spd="slow" advTm="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86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5. AI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AI supports decision-making across inventory, warehouse planning, carrier risk, weather reasoning, and document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2647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sz="2000" dirty="0"/>
              <a:t>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7430"/>
            <a:ext cx="3301898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Check inventory availability to shipment staff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Supports sales forecast for warehouse planning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Includes Weather AI reasoning for external delivery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1325880"/>
            <a:ext cx="19972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sz="2000" dirty="0"/>
              <a:t>Predictive </a:t>
            </a:r>
            <a:r>
              <a:rPr lang="en-US" sz="2000" dirty="0"/>
              <a:t>Model</a:t>
            </a:r>
            <a:endParaRPr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4490618" y="1817429"/>
            <a:ext cx="3301898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Scores carrier delivery confidence</a:t>
            </a:r>
            <a:r>
              <a:rPr lang="en-US" dirty="0"/>
              <a:t> And </a:t>
            </a:r>
            <a:r>
              <a:rPr dirty="0"/>
              <a:t>delivery risk before handoff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Supports warehouse staff in carrier selection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Improves reliability of delivery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3996" y="1325880"/>
            <a:ext cx="8402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rPr sz="2000" dirty="0"/>
              <a:t>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0163" y="1725990"/>
            <a:ext cx="3301898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Generates PO Receipt for procurement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Creates Shipping Label for carrier pickup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Creates Proof of Delivery for final customer confirmation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8" name="Oval 17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5</a:t>
            </a:r>
            <a:r>
              <a:rPr dirty="0"/>
              <a:t>/</a:t>
            </a:r>
            <a:r>
              <a:rPr lang="en-US" dirty="0"/>
              <a:t>10</a:t>
            </a:r>
            <a:endParaRPr dirty="0"/>
          </a:p>
        </p:txBody>
      </p:sp>
      <p:pic>
        <p:nvPicPr>
          <p:cNvPr id="6" name="speech (8).mp3">
            <a:hlinkClick r:id="" action="ppaction://media"/>
            <a:extLst>
              <a:ext uri="{FF2B5EF4-FFF2-40B4-BE49-F238E27FC236}">
                <a16:creationId xmlns:a16="http://schemas.microsoft.com/office/drawing/2014/main" id="{52F76235-6319-014E-5EB7-29062F53FC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9224" y="2976953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"/>
    </mc:Choice>
    <mc:Fallback>
      <p:transition spd="slow" advTm="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8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6. Communication and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1189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Automated notifications and generated documents keep warehouse teams, carriers, and customers aligned throughout the shipment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7286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Shipment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0872"/>
            <a:ext cx="107286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Low inventory alert informs warehouse team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Procurement email includes shortage details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PO Receipt is generated for procurement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Delivery ready email sends shipment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28500"/>
            <a:ext cx="107286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Warehouse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3492"/>
            <a:ext cx="107286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Carrier pickup request is sent after warehouse processing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Shipping Label is generated for carrier handoff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Customer receives order ready to ship communication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Tracking and readiness details support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16467"/>
            <a:ext cx="107286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Carrier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06574"/>
            <a:ext cx="107286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Customer receives delivery status updates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Delivered email confirms final status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Proof of Delivery is generated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Final communication closes the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8" name="Oval 17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6/10</a:t>
            </a:r>
            <a:endParaRPr dirty="0"/>
          </a:p>
        </p:txBody>
      </p:sp>
      <p:pic>
        <p:nvPicPr>
          <p:cNvPr id="6" name="speech (10).mp3">
            <a:hlinkClick r:id="" action="ppaction://media"/>
            <a:extLst>
              <a:ext uri="{FF2B5EF4-FFF2-40B4-BE49-F238E27FC236}">
                <a16:creationId xmlns:a16="http://schemas.microsoft.com/office/drawing/2014/main" id="{375354CB-C646-025C-1C26-7998D7F613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0"/>
    </mc:Choice>
    <mc:Fallback>
      <p:transition spd="slow" advTm="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7. Shipment Application —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From creating to inventory validation, shortage handling, shipment creation, and warehouse handoff.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3240938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Create Order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18178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1098" y="1325880"/>
            <a:ext cx="3240938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Check Inventory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62036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64956" y="1325880"/>
            <a:ext cx="3240938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Build Shipment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828097"/>
            <a:ext cx="107286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Enter Order Number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Select Product Name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Enter Order Count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Required-field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1843704"/>
            <a:ext cx="10728655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Compare stock vs quantity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dirty="0"/>
              <a:t>AI explains availability with chatbot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Shortage opens procurement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1" y="1828097"/>
            <a:ext cx="107286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Capture sender/recipient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Route, price, weight, distance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Calculate delivery date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Send warehouse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28687"/>
            <a:ext cx="10728655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878" y="3430954"/>
            <a:ext cx="102714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Highlighted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878" y="3658929"/>
            <a:ext cx="1027145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rPr sz="2000" dirty="0"/>
              <a:t>Field Validation • Inventory AI • Procurement Flow • GenAI P</a:t>
            </a:r>
            <a:r>
              <a:rPr lang="en-US" sz="2000" dirty="0"/>
              <a:t>urchase Order</a:t>
            </a:r>
            <a:r>
              <a:rPr sz="2000" dirty="0"/>
              <a:t> Receipt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24" name="Oval 23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26" name="Oval 25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28" name="Oval 27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7/10</a:t>
            </a:r>
            <a:endParaRPr dirty="0"/>
          </a:p>
        </p:txBody>
      </p:sp>
      <p:pic>
        <p:nvPicPr>
          <p:cNvPr id="7" name="speech (15).mp3">
            <a:hlinkClick r:id="" action="ppaction://media"/>
            <a:extLst>
              <a:ext uri="{FF2B5EF4-FFF2-40B4-BE49-F238E27FC236}">
                <a16:creationId xmlns:a16="http://schemas.microsoft.com/office/drawing/2014/main" id="{FC367D07-65D1-F788-87C9-3EA47C138F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"/>
    </mc:Choice>
    <mc:Fallback>
      <p:transition spd="slow" advTm="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43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8. Warehouse Application —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From order retrieval to warehouse readiness, AI planning, carrier risk review, and final carrier handoff.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2304973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Load Order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82213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85133" y="1325880"/>
            <a:ext cx="2304973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Confirm Readiness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0107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93027" y="1325880"/>
            <a:ext cx="2304973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Risk &amp; Insights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98001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00921" y="1325880"/>
            <a:ext cx="2304973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Finalize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73" y="1848822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Enter Order ID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Fetch shipment details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Review delivery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3420" y="1801367"/>
            <a:ext cx="5090007" cy="14260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Assign warehouse staff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Confirm inventory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Set pickup window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Special handling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dirty="0"/>
              <a:t>Sales forecast Agent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5759" y="1839309"/>
            <a:ext cx="509000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Check Carrier confidence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Weather AI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6347" y="1785161"/>
            <a:ext cx="509000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Assign carrier details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Generate shipping label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Send pickup request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Notify customer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432" y="3428687"/>
            <a:ext cx="10728655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430954"/>
            <a:ext cx="102714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Highlighted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658929"/>
            <a:ext cx="1027145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rPr sz="2000"/>
              <a:t>Weather Insights AI • Sales Forecast AI • Carrier Risk Assessment • GenAI Shipping Label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30" name="Oval 29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32" name="Oval 31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8/10</a:t>
            </a:r>
            <a:endParaRPr dirty="0"/>
          </a:p>
        </p:txBody>
      </p:sp>
      <p:pic>
        <p:nvPicPr>
          <p:cNvPr id="6" name="speech (12).mp3">
            <a:hlinkClick r:id="" action="ppaction://media"/>
            <a:extLst>
              <a:ext uri="{FF2B5EF4-FFF2-40B4-BE49-F238E27FC236}">
                <a16:creationId xmlns:a16="http://schemas.microsoft.com/office/drawing/2014/main" id="{F1223693-A347-6BB4-798C-0781959855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"/>
    </mc:Choice>
    <mc:Fallback>
      <p:transition spd="slow" advTm="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9. Carrier Application —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From finalized order retrieval to delivery status update, customer communication, POD generation, and lifecycle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2304973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Fetch Order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82213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85133" y="1325880"/>
            <a:ext cx="2304973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Update Delivery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0107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93027" y="1325880"/>
            <a:ext cx="2304973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Notify Customer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98001" y="1435607"/>
            <a:ext cx="27432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00921" y="1325880"/>
            <a:ext cx="2304973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09" y="1866636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Enter Order ID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Load finalized shipment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View carrier/tracking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433" y="1845666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Enter delivery timestamp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Select delivery status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Add delivery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2465" y="1833555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Send delivery status email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Confirm delivered status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Share latest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118" y="1829112"/>
            <a:ext cx="509000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Generate P</a:t>
            </a:r>
            <a:r>
              <a:rPr lang="en-US" dirty="0"/>
              <a:t>roof of Delivery</a:t>
            </a:r>
            <a:endParaRPr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Close delivery flow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dirty="0"/>
              <a:t>Finish process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78" y="3277264"/>
            <a:ext cx="10728655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878" y="3313723"/>
            <a:ext cx="102714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Highlighted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878" y="3541698"/>
            <a:ext cx="1027145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rPr sz="2000" dirty="0"/>
              <a:t>Order Lookup • Delivery Update • GenAI P</a:t>
            </a:r>
            <a:r>
              <a:rPr lang="en-US" sz="2000" dirty="0"/>
              <a:t>roof of Delivery</a:t>
            </a:r>
            <a:r>
              <a:rPr sz="2000" dirty="0"/>
              <a:t> Generation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30" name="Oval 29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32" name="Oval 31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50321" y="6565392"/>
            <a:ext cx="455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9/10</a:t>
            </a:r>
            <a:endParaRPr dirty="0"/>
          </a:p>
        </p:txBody>
      </p:sp>
      <p:pic>
        <p:nvPicPr>
          <p:cNvPr id="6" name="speech (13).mp3">
            <a:hlinkClick r:id="" action="ppaction://media"/>
            <a:extLst>
              <a:ext uri="{FF2B5EF4-FFF2-40B4-BE49-F238E27FC236}">
                <a16:creationId xmlns:a16="http://schemas.microsoft.com/office/drawing/2014/main" id="{7E32CBCE-25F9-358F-C017-CE09A098AC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"/>
    </mc:Choice>
    <mc:Fallback>
      <p:transition spd="slow" advTm="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5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286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11.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55064"/>
            <a:ext cx="10728655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Font typeface="Wingdings" pitchFamily="2" charset="2"/>
              <a:buChar char="ü"/>
              <a:defRPr sz="2200">
                <a:solidFill>
                  <a:srgbClr val="0F172A"/>
                </a:solidFill>
              </a:defRPr>
            </a:pPr>
            <a:r>
              <a:rPr dirty="0"/>
              <a:t>Connected Shipment → Warehouse → Carrier workflow</a:t>
            </a:r>
          </a:p>
          <a:p>
            <a:pPr marL="342900" indent="-342900">
              <a:spcAft>
                <a:spcPts val="200"/>
              </a:spcAft>
              <a:buFont typeface="Wingdings" pitchFamily="2" charset="2"/>
              <a:buChar char="ü"/>
              <a:defRPr sz="2200">
                <a:solidFill>
                  <a:srgbClr val="0F172A"/>
                </a:solidFill>
              </a:defRPr>
            </a:pPr>
            <a:r>
              <a:rPr dirty="0"/>
              <a:t>AI and communications appear early as core solution capabilities</a:t>
            </a:r>
          </a:p>
          <a:p>
            <a:pPr marL="342900" indent="-342900">
              <a:spcAft>
                <a:spcPts val="200"/>
              </a:spcAft>
              <a:buFont typeface="Wingdings" pitchFamily="2" charset="2"/>
              <a:buChar char="ü"/>
              <a:defRPr sz="2200">
                <a:solidFill>
                  <a:srgbClr val="0F172A"/>
                </a:solidFill>
              </a:defRPr>
            </a:pPr>
            <a:r>
              <a:rPr dirty="0"/>
              <a:t>Role-based experience for shipment staff, warehouse staff, delivery driver, and customer</a:t>
            </a:r>
          </a:p>
          <a:p>
            <a:pPr marL="342900" indent="-342900">
              <a:spcAft>
                <a:spcPts val="200"/>
              </a:spcAft>
              <a:buFont typeface="Wingdings" pitchFamily="2" charset="2"/>
              <a:buChar char="ü"/>
              <a:defRPr sz="2200">
                <a:solidFill>
                  <a:srgbClr val="0F172A"/>
                </a:solidFill>
              </a:defRPr>
            </a:pPr>
            <a:r>
              <a:rPr dirty="0"/>
              <a:t>Automated emails and GenAI-generated 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End-to-End Shipment Management 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65836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Shipment</a:t>
            </a:r>
          </a:p>
        </p:txBody>
      </p:sp>
      <p:sp>
        <p:nvSpPr>
          <p:cNvPr id="13" name="Oval 12"/>
          <p:cNvSpPr/>
          <p:nvPr/>
        </p:nvSpPr>
        <p:spPr>
          <a:xfrm>
            <a:off x="8732519" y="65836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Warehouse</a:t>
            </a:r>
          </a:p>
        </p:txBody>
      </p:sp>
      <p:sp>
        <p:nvSpPr>
          <p:cNvPr id="15" name="Oval 14"/>
          <p:cNvSpPr/>
          <p:nvPr/>
        </p:nvSpPr>
        <p:spPr>
          <a:xfrm>
            <a:off x="9966959" y="65836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31551" y="6537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8185" y="6565392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10/10</a:t>
            </a:r>
            <a:endParaRPr dirty="0"/>
          </a:p>
        </p:txBody>
      </p:sp>
      <p:pic>
        <p:nvPicPr>
          <p:cNvPr id="5" name="speech (14).mp3">
            <a:hlinkClick r:id="" action="ppaction://media"/>
            <a:extLst>
              <a:ext uri="{FF2B5EF4-FFF2-40B4-BE49-F238E27FC236}">
                <a16:creationId xmlns:a16="http://schemas.microsoft.com/office/drawing/2014/main" id="{AE19347E-1723-FC8A-87E4-3FBC33F3ED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"/>
    </mc:Choice>
    <mc:Fallback>
      <p:transition spd="slow" advTm="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1208</Words>
  <Application>Microsoft Macintosh PowerPoint</Application>
  <PresentationFormat>Widescreen</PresentationFormat>
  <Paragraphs>227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DAKSHIL Tailor</dc:creator>
  <cp:keywords/>
  <dc:description>generated using python-pptx</dc:description>
  <cp:lastModifiedBy>DAKSHIL Tailor</cp:lastModifiedBy>
  <cp:revision>56</cp:revision>
  <dcterms:created xsi:type="dcterms:W3CDTF">2026-05-14T16:04:03Z</dcterms:created>
  <dcterms:modified xsi:type="dcterms:W3CDTF">2026-05-20T02:19:26Z</dcterms:modified>
  <cp:category/>
</cp:coreProperties>
</file>